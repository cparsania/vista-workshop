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2" r:id="rId3"/>
    <p:sldId id="281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03" autoAdjust="0"/>
    <p:restoredTop sz="94659" autoAdjust="0"/>
  </p:normalViewPr>
  <p:slideViewPr>
    <p:cSldViewPr snapToGrid="0" snapToObjects="1">
      <p:cViewPr varScale="1">
        <p:scale>
          <a:sx n="179" d="100"/>
          <a:sy n="179" d="100"/>
        </p:scale>
        <p:origin x="208" y="44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VISTA Workshop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t>Beginner-friendly RNA-seq analysis from counts to functional interpretation</a:t>
            </a:r>
            <a:br/>
            <a:br/>
            <a:r>
              <a:t>VISTA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37435-9E10-2846-6739-C9F64A8FD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D88DF-8003-5ED0-4CE0-732E761CC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About me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639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32CAC-391D-D94A-32F6-AD0007417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About 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7C400-7850-860B-F128-F081CADAF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33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192" y="120252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Workshop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192" y="977502"/>
            <a:ext cx="8229600" cy="3394472"/>
          </a:xfrm>
        </p:spPr>
        <p:txBody>
          <a:bodyPr>
            <a:normAutofit fontScale="92500"/>
          </a:bodyPr>
          <a:lstStyle/>
          <a:p>
            <a:pPr lvl="0"/>
            <a:r>
              <a:rPr dirty="0"/>
              <a:t>Understand what RNA-seq count data and sample metadata represent.</a:t>
            </a:r>
          </a:p>
          <a:p>
            <a:pPr lvl="0"/>
            <a:r>
              <a:rPr dirty="0"/>
              <a:t>Learn why </a:t>
            </a:r>
            <a:r>
              <a:rPr dirty="0" err="1">
                <a:latin typeface="Courier"/>
              </a:rPr>
              <a:t>SummarizedExperiment</a:t>
            </a:r>
            <a:r>
              <a:rPr dirty="0"/>
              <a:t> is a useful structure for genomics.</a:t>
            </a:r>
          </a:p>
          <a:p>
            <a:pPr lvl="0"/>
            <a:r>
              <a:rPr dirty="0"/>
              <a:t>Use VISTA to run a complete RNA-seq workflow with example data.</a:t>
            </a:r>
          </a:p>
          <a:p>
            <a:pPr lvl="0"/>
            <a:r>
              <a:rPr dirty="0"/>
              <a:t>Move from data loading to differential expression, visualization, and functional analysis.</a:t>
            </a:r>
          </a:p>
          <a:p>
            <a:pPr lvl="0"/>
            <a:r>
              <a:rPr dirty="0"/>
              <a:t>Leave with a practical template that can be adapted to new datasets.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Audience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You are new to R or still building confidence with R.</a:t>
            </a:r>
          </a:p>
          <a:p>
            <a:pPr lvl="0"/>
            <a:r>
              <a:t>You have heard of RNA-seq, but may not know the full analysis workflow.</a:t>
            </a:r>
          </a:p>
          <a:p>
            <a:pPr lvl="0"/>
            <a:r>
              <a:t>You want practical steps, not only theory.</a:t>
            </a:r>
          </a:p>
          <a:p>
            <a:pPr lvl="0"/>
            <a:r>
              <a:t>You want plots and result tables that are easy to explain.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Problem VISTA Addresses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394472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dirty="0"/>
              <a:t>RNA-seq analysis often asks a simple biological question:</a:t>
            </a:r>
          </a:p>
          <a:p>
            <a:pPr marL="1270000" lvl="0" indent="0">
              <a:buNone/>
            </a:pPr>
            <a:r>
              <a:rPr sz="2000" dirty="0"/>
              <a:t>Which genes change between two conditions?</a:t>
            </a:r>
          </a:p>
          <a:p>
            <a:pPr marL="0" lvl="0" indent="0">
              <a:buNone/>
            </a:pPr>
            <a:r>
              <a:rPr dirty="0"/>
              <a:t>The practical workflow is less simple:</a:t>
            </a:r>
          </a:p>
          <a:p>
            <a:pPr lvl="0"/>
            <a:r>
              <a:rPr dirty="0"/>
              <a:t>Count tables and metadata must match exactly.</a:t>
            </a:r>
          </a:p>
          <a:p>
            <a:pPr lvl="0"/>
            <a:r>
              <a:rPr dirty="0"/>
              <a:t>Statistical packages use different object types and result formats.</a:t>
            </a:r>
          </a:p>
          <a:p>
            <a:pPr lvl="0"/>
            <a:r>
              <a:rPr dirty="0"/>
              <a:t>Gene identifiers need annotation.</a:t>
            </a:r>
          </a:p>
          <a:p>
            <a:pPr lvl="0"/>
            <a:r>
              <a:rPr dirty="0"/>
              <a:t>Plots require repeated data wrangling.</a:t>
            </a:r>
          </a:p>
          <a:p>
            <a:pPr lvl="0"/>
            <a:r>
              <a:rPr dirty="0"/>
              <a:t>Functional enrichment needs careful gene ID handling.</a:t>
            </a:r>
          </a:p>
          <a:p>
            <a:pPr lvl="0"/>
            <a:r>
              <a:rPr dirty="0"/>
              <a:t>Reproducibility is easy to lose across scripts and files.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Common Beginner Pain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“My sample names do not match.”</a:t>
            </a:r>
          </a:p>
          <a:p>
            <a:pPr lvl="0"/>
            <a:r>
              <a:t>“I do not know which column is the condition.”</a:t>
            </a:r>
          </a:p>
          <a:p>
            <a:pPr lvl="0"/>
            <a:r>
              <a:t>“DESeq2, edgeR, and limma return different-looking objects.”</a:t>
            </a:r>
          </a:p>
          <a:p>
            <a:pPr lvl="0"/>
            <a:r>
              <a:t>“My gene IDs are Ensembl IDs, but the plot needs symbols.”</a:t>
            </a:r>
          </a:p>
          <a:p>
            <a:pPr lvl="0"/>
            <a:r>
              <a:t>“I made one volcano plot, but now I need ten other plots.”</a:t>
            </a:r>
          </a:p>
          <a:p>
            <a:pPr lvl="0"/>
            <a:r>
              <a:t>“I ran enrichment, but I am not sure which genes went into it.”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How VISTA Helps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3263"/>
            <a:ext cx="8229600" cy="3394472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dirty="0"/>
              <a:t>VISTA provides one coordinated workflow:</a:t>
            </a:r>
          </a:p>
          <a:p>
            <a:pPr lvl="0"/>
            <a:r>
              <a:rPr dirty="0"/>
              <a:t>Standardize counts and metadata.</a:t>
            </a:r>
          </a:p>
          <a:p>
            <a:pPr lvl="0"/>
            <a:r>
              <a:rPr dirty="0"/>
              <a:t>Create a single VISTA object.</a:t>
            </a:r>
          </a:p>
          <a:p>
            <a:pPr lvl="0"/>
            <a:r>
              <a:rPr dirty="0"/>
              <a:t>Run differential expression through supported backends.</a:t>
            </a:r>
          </a:p>
          <a:p>
            <a:pPr lvl="0"/>
            <a:r>
              <a:rPr dirty="0"/>
              <a:t>Store normalized expression, metadata, annotations, DE results, and cutoffs together.</a:t>
            </a:r>
          </a:p>
          <a:p>
            <a:pPr lvl="0"/>
            <a:r>
              <a:rPr dirty="0"/>
              <a:t>Generate publication-ready plots with consistent function names.</a:t>
            </a:r>
          </a:p>
          <a:p>
            <a:pPr lvl="0"/>
            <a:r>
              <a:rPr dirty="0"/>
              <a:t>Run enrichment directly from VISTA comparisons.</a:t>
            </a:r>
          </a:p>
          <a:p>
            <a:pPr lvl="0"/>
            <a:r>
              <a:rPr dirty="0"/>
              <a:t>Export tables, plots, and reports.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From Files to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Typical RNA-seq workflow:</a:t>
            </a:r>
          </a:p>
          <a:p>
            <a:pPr marL="342900" lvl="0" indent="-342900">
              <a:buAutoNum type="arabicPeriod"/>
            </a:pPr>
            <a:r>
              <a:t>Load counts and sample metadata.</a:t>
            </a:r>
          </a:p>
          <a:p>
            <a:pPr marL="342900" lvl="0" indent="-342900">
              <a:buAutoNum type="arabicPeriod"/>
            </a:pPr>
            <a:r>
              <a:t>Check that samples match.</a:t>
            </a:r>
          </a:p>
          <a:p>
            <a:pPr marL="342900" lvl="0" indent="-342900">
              <a:buAutoNum type="arabicPeriod"/>
            </a:pPr>
            <a:r>
              <a:t>Define the comparison.</a:t>
            </a:r>
          </a:p>
          <a:p>
            <a:pPr marL="342900" lvl="0" indent="-342900">
              <a:buAutoNum type="arabicPeriod"/>
            </a:pPr>
            <a:r>
              <a:t>Run differential expression.</a:t>
            </a:r>
          </a:p>
          <a:p>
            <a:pPr marL="342900" lvl="0" indent="-342900">
              <a:buAutoNum type="arabicPeriod"/>
            </a:pPr>
            <a:r>
              <a:t>Inspect QC plots.</a:t>
            </a:r>
          </a:p>
          <a:p>
            <a:pPr marL="342900" lvl="0" indent="-342900">
              <a:buAutoNum type="arabicPeriod"/>
            </a:pPr>
            <a:r>
              <a:t>Visualize differential expression.</a:t>
            </a:r>
          </a:p>
          <a:p>
            <a:pPr marL="342900" lvl="0" indent="-342900">
              <a:buAutoNum type="arabicPeriod"/>
            </a:pPr>
            <a:r>
              <a:t>Annotate and select genes.</a:t>
            </a:r>
          </a:p>
          <a:p>
            <a:pPr marL="342900" lvl="0" indent="-342900">
              <a:buAutoNum type="arabicPeriod"/>
            </a:pPr>
            <a:r>
              <a:t>Run functional analysis.</a:t>
            </a:r>
          </a:p>
          <a:p>
            <a:pPr marL="342900" lvl="0" indent="-342900">
              <a:buAutoNum type="arabicPeriod"/>
            </a:pPr>
            <a:r>
              <a:t>Export results and plots.</a:t>
            </a:r>
          </a:p>
          <a:p>
            <a:pPr marL="0" lvl="0" indent="0">
              <a:buNone/>
            </a:pPr>
            <a:r>
              <a:t>VISTA keeps these steps connected.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16397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Why Data Structure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0818"/>
            <a:ext cx="8229600" cy="3394472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dirty="0"/>
              <a:t>RNA-seq data are not just one table.</a:t>
            </a:r>
          </a:p>
          <a:p>
            <a:pPr marL="0" lvl="0" indent="0">
              <a:buNone/>
            </a:pPr>
            <a:r>
              <a:rPr dirty="0"/>
              <a:t>You usually need:</a:t>
            </a:r>
          </a:p>
          <a:p>
            <a:pPr lvl="0"/>
            <a:r>
              <a:rPr dirty="0"/>
              <a:t>Gene-by-sample count matrix.</a:t>
            </a:r>
          </a:p>
          <a:p>
            <a:pPr lvl="0"/>
            <a:r>
              <a:rPr dirty="0"/>
              <a:t>Sample metadata such as treatment, cell line, batch, or patient.</a:t>
            </a:r>
          </a:p>
          <a:p>
            <a:pPr lvl="0"/>
            <a:r>
              <a:rPr dirty="0"/>
              <a:t>Gene metadata such as symbol, description, chromosome, or Entrez ID.</a:t>
            </a:r>
          </a:p>
          <a:p>
            <a:pPr lvl="0"/>
            <a:r>
              <a:rPr dirty="0"/>
              <a:t>Analysis results such as log2 fold change and adjusted p-value.</a:t>
            </a:r>
          </a:p>
          <a:p>
            <a:pPr lvl="0"/>
            <a:r>
              <a:rPr dirty="0"/>
              <a:t>Analysis settings such as cutoffs and method.</a:t>
            </a:r>
          </a:p>
          <a:p>
            <a:pPr marL="0" lvl="0" indent="0">
              <a:buNone/>
            </a:pPr>
            <a:r>
              <a:rPr dirty="0"/>
              <a:t>If these pieces drift apart, mistakes become hard to detect.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</a:t>
            </a:r>
            <a:r>
              <a:rPr>
                <a:latin typeface="Courier"/>
              </a:rPr>
              <a:t>SummarizedExperiment</a:t>
            </a:r>
            <a:r>
              <a:t>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394472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dirty="0" err="1">
                <a:latin typeface="Courier"/>
              </a:rPr>
              <a:t>SummarizedExperiment</a:t>
            </a:r>
            <a:r>
              <a:rPr dirty="0"/>
              <a:t> is a Bioconductor container for assay data.</a:t>
            </a:r>
          </a:p>
          <a:p>
            <a:pPr marL="0" lvl="0" indent="0">
              <a:buNone/>
            </a:pPr>
            <a:r>
              <a:rPr dirty="0"/>
              <a:t>It keeps related pieces together:</a:t>
            </a:r>
          </a:p>
          <a:p>
            <a:pPr lvl="0"/>
            <a:r>
              <a:rPr dirty="0">
                <a:latin typeface="Courier"/>
              </a:rPr>
              <a:t>assays</a:t>
            </a:r>
            <a:r>
              <a:rPr dirty="0"/>
              <a:t>: expression matrices such as counts or normalized counts.</a:t>
            </a:r>
          </a:p>
          <a:p>
            <a:pPr lvl="0"/>
            <a:r>
              <a:rPr dirty="0" err="1">
                <a:latin typeface="Courier"/>
              </a:rPr>
              <a:t>colData</a:t>
            </a:r>
            <a:r>
              <a:rPr dirty="0"/>
              <a:t>: sample metadata, one row per sample.</a:t>
            </a:r>
          </a:p>
          <a:p>
            <a:pPr lvl="0"/>
            <a:r>
              <a:rPr dirty="0" err="1">
                <a:latin typeface="Courier"/>
              </a:rPr>
              <a:t>rowData</a:t>
            </a:r>
            <a:r>
              <a:rPr dirty="0"/>
              <a:t>: gene metadata, one row per gene.</a:t>
            </a:r>
          </a:p>
          <a:p>
            <a:pPr lvl="0"/>
            <a:r>
              <a:rPr dirty="0">
                <a:latin typeface="Courier"/>
              </a:rPr>
              <a:t>metadata</a:t>
            </a:r>
            <a:r>
              <a:rPr dirty="0"/>
              <a:t>: analysis-level information.</a:t>
            </a:r>
          </a:p>
          <a:p>
            <a:pPr marL="0" lvl="0" indent="0">
              <a:buNone/>
            </a:pPr>
            <a:r>
              <a:rPr dirty="0"/>
              <a:t>This structure makes it harder to accidentally compare the wrong samples or annotate the wrong genes.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VISTA and </a:t>
            </a:r>
            <a:r>
              <a:rPr>
                <a:latin typeface="Courier"/>
              </a:rPr>
              <a:t>SummarizedExperiment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VISTA builds on the same idea:</a:t>
            </a:r>
          </a:p>
          <a:p>
            <a:pPr lvl="0"/>
            <a:r>
              <a:t>A VISTA object behaves like a structured genomics object.</a:t>
            </a:r>
          </a:p>
          <a:p>
            <a:pPr lvl="0"/>
            <a:r>
              <a:t>Counts, metadata, annotations, DE results, and plotting settings stay together.</a:t>
            </a:r>
          </a:p>
          <a:p>
            <a:pPr lvl="0"/>
            <a:r>
              <a:t>Accessor functions retrieve key pieces without manual file juggling.</a:t>
            </a:r>
          </a:p>
          <a:p>
            <a:pPr lvl="0"/>
            <a:r>
              <a:t>Validation checks help catch common object problems.</a:t>
            </a:r>
          </a:p>
          <a:p>
            <a:pPr marL="0" lvl="0" indent="0">
              <a:buNone/>
            </a:pPr>
            <a:r>
              <a:t>This is especially useful in teaching because beginners can focus on the biology and workflow logic.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VISTA When AI Is Advanced?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dirty="0"/>
              <a:t>AI can help write code, explain errors, and summarize results.</a:t>
            </a:r>
          </a:p>
          <a:p>
            <a:pPr marL="0" lvl="0" indent="0">
              <a:buNone/>
            </a:pPr>
            <a:r>
              <a:rPr dirty="0"/>
              <a:t>But RNA-seq still needs:</a:t>
            </a:r>
          </a:p>
          <a:p>
            <a:pPr lvl="0"/>
            <a:r>
              <a:rPr dirty="0"/>
              <a:t>Correct statistical models.</a:t>
            </a:r>
          </a:p>
          <a:p>
            <a:pPr lvl="0"/>
            <a:r>
              <a:rPr dirty="0"/>
              <a:t>Valid sample-to-count matching.</a:t>
            </a:r>
          </a:p>
          <a:p>
            <a:pPr lvl="0"/>
            <a:r>
              <a:rPr dirty="0"/>
              <a:t>Reproducible analysis objects.</a:t>
            </a:r>
          </a:p>
          <a:p>
            <a:pPr lvl="0"/>
            <a:r>
              <a:rPr dirty="0"/>
              <a:t>Transparent thresholds and assumptions.</a:t>
            </a:r>
          </a:p>
          <a:p>
            <a:pPr lvl="0"/>
            <a:r>
              <a:rPr dirty="0"/>
              <a:t>Standardized outputs that can be checked.</a:t>
            </a:r>
          </a:p>
          <a:p>
            <a:pPr lvl="0"/>
            <a:r>
              <a:rPr dirty="0"/>
              <a:t>Domain-specific plotting and enrichment logic.</a:t>
            </a:r>
          </a:p>
          <a:p>
            <a:pPr marL="0" lvl="0" indent="0">
              <a:buNone/>
            </a:pPr>
            <a:r>
              <a:rPr dirty="0"/>
              <a:t>VISTA gives AI and humans a reliable workflow to operate 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AI Is Not a Substitute for Analysis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AI can suggest a command, but it cannot guarantee:</a:t>
            </a:r>
          </a:p>
          <a:p>
            <a:pPr lvl="0"/>
            <a:r>
              <a:t>Your sample labels match your count columns.</a:t>
            </a:r>
          </a:p>
          <a:p>
            <a:pPr lvl="0"/>
            <a:r>
              <a:t>Your model formula matches the experiment.</a:t>
            </a:r>
          </a:p>
          <a:p>
            <a:pPr lvl="0"/>
            <a:r>
              <a:t>Your gene IDs are mapped correctly.</a:t>
            </a:r>
          </a:p>
          <a:p>
            <a:pPr lvl="0"/>
            <a:r>
              <a:t>Your adjusted p-values are interpreted correctly.</a:t>
            </a:r>
          </a:p>
          <a:p>
            <a:pPr lvl="0"/>
            <a:r>
              <a:t>Your plot uses the intended comparison.</a:t>
            </a:r>
          </a:p>
          <a:p>
            <a:pPr marL="0" lvl="0" indent="0">
              <a:buNone/>
            </a:pPr>
            <a:r>
              <a:t>VISTA reduces these risks by enforcing a consistent analysis object and workflow.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workshop uses example data included with VISTA:</a:t>
            </a:r>
          </a:p>
          <a:p>
            <a:pPr lvl="0"/>
            <a:r>
              <a:rPr>
                <a:latin typeface="Courier"/>
              </a:rPr>
              <a:t>count_data</a:t>
            </a:r>
            <a:r>
              <a:t>: RNA-seq count table.</a:t>
            </a:r>
          </a:p>
          <a:p>
            <a:pPr lvl="0"/>
            <a:r>
              <a:rPr>
                <a:latin typeface="Courier"/>
              </a:rPr>
              <a:t>sample_metadata</a:t>
            </a:r>
            <a:r>
              <a:t>: sample information.</a:t>
            </a:r>
          </a:p>
          <a:p>
            <a:pPr lvl="0"/>
            <a:r>
              <a:t>Biological setting: airway smooth muscle cells with treatment information.</a:t>
            </a:r>
          </a:p>
          <a:p>
            <a:pPr lvl="0"/>
            <a:r>
              <a:t>Comparison used in the practical: treated vs untreated.</a:t>
            </a:r>
          </a:p>
          <a:p>
            <a:pPr marL="0" lvl="0" indent="0">
              <a:buNone/>
            </a:pPr>
            <a:r>
              <a:t>Because the data ship with VISTA, everyone can run the same workflow.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Practical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In the hands-on session we will:</a:t>
            </a:r>
          </a:p>
          <a:p>
            <a:pPr marL="342900" lvl="0" indent="-342900">
              <a:buAutoNum type="arabicPeriod"/>
            </a:pPr>
            <a:r>
              <a:t>Load packages and example data.</a:t>
            </a:r>
          </a:p>
          <a:p>
            <a:pPr marL="342900" lvl="0" indent="-342900">
              <a:buAutoNum type="arabicPeriod"/>
            </a:pPr>
            <a:r>
              <a:t>Inspect count data and metadata.</a:t>
            </a:r>
          </a:p>
          <a:p>
            <a:pPr marL="342900" lvl="0" indent="-342900">
              <a:buAutoNum type="arabicPeriod"/>
            </a:pPr>
            <a:r>
              <a:t>Prepare and match VISTA inputs.</a:t>
            </a:r>
          </a:p>
          <a:p>
            <a:pPr marL="342900" lvl="0" indent="-342900">
              <a:buAutoNum type="arabicPeriod"/>
            </a:pPr>
            <a:r>
              <a:t>Create and validate a VISTA object.</a:t>
            </a:r>
          </a:p>
          <a:p>
            <a:pPr marL="342900" lvl="0" indent="-342900">
              <a:buAutoNum type="arabicPeriod"/>
            </a:pPr>
            <a:r>
              <a:t>Add gene annotations.</a:t>
            </a:r>
          </a:p>
          <a:p>
            <a:pPr marL="342900" lvl="0" indent="-342900">
              <a:buAutoNum type="arabicPeriod"/>
            </a:pPr>
            <a:r>
              <a:t>Explore DE results.</a:t>
            </a:r>
          </a:p>
          <a:p>
            <a:pPr marL="342900" lvl="0" indent="-342900">
              <a:buAutoNum type="arabicPeriod"/>
            </a:pPr>
            <a:r>
              <a:t>Make QC and DE plots.</a:t>
            </a:r>
          </a:p>
          <a:p>
            <a:pPr marL="342900" lvl="0" indent="-342900">
              <a:buAutoNum type="arabicPeriod"/>
            </a:pPr>
            <a:r>
              <a:t>Select genes for expression plots.</a:t>
            </a:r>
          </a:p>
          <a:p>
            <a:pPr marL="342900" lvl="0" indent="-342900">
              <a:buAutoNum type="arabicPeriod"/>
            </a:pPr>
            <a:r>
              <a:t>Run functional enrichment.</a:t>
            </a:r>
          </a:p>
          <a:p>
            <a:pPr marL="342900" lvl="0" indent="-342900">
              <a:buAutoNum type="arabicPeriod"/>
            </a:pPr>
            <a:r>
              <a:t>Export results.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VISTA Function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Input preparation:</a:t>
            </a:r>
          </a:p>
          <a:p>
            <a:pPr lvl="0"/>
            <a:r>
              <a:rPr>
                <a:latin typeface="Courier"/>
              </a:rPr>
              <a:t>read_vista_counts()</a:t>
            </a:r>
          </a:p>
          <a:p>
            <a:pPr lvl="0"/>
            <a:r>
              <a:rPr>
                <a:latin typeface="Courier"/>
              </a:rPr>
              <a:t>read_vista_metadata()</a:t>
            </a:r>
          </a:p>
          <a:p>
            <a:pPr lvl="0"/>
            <a:r>
              <a:rPr>
                <a:latin typeface="Courier"/>
              </a:rPr>
              <a:t>match_vista_inputs()</a:t>
            </a:r>
          </a:p>
          <a:p>
            <a:pPr lvl="0"/>
            <a:r>
              <a:rPr>
                <a:latin typeface="Courier"/>
              </a:rPr>
              <a:t>derive_vista_metadata()</a:t>
            </a:r>
          </a:p>
          <a:p>
            <a:pPr marL="0" lvl="0" indent="0">
              <a:buNone/>
            </a:pPr>
            <a:r>
              <a:t>Object creation and validation:</a:t>
            </a:r>
          </a:p>
          <a:p>
            <a:pPr lvl="0"/>
            <a:r>
              <a:rPr>
                <a:latin typeface="Courier"/>
              </a:rPr>
              <a:t>create_vista()</a:t>
            </a:r>
          </a:p>
          <a:p>
            <a:pPr lvl="0"/>
            <a:r>
              <a:rPr>
                <a:latin typeface="Courier"/>
              </a:rPr>
              <a:t>as_vista()</a:t>
            </a:r>
          </a:p>
          <a:p>
            <a:pPr lvl="0"/>
            <a:r>
              <a:rPr>
                <a:latin typeface="Courier"/>
              </a:rPr>
              <a:t>validate_vista()</a:t>
            </a:r>
          </a:p>
          <a:p>
            <a:pPr lvl="0"/>
            <a:r>
              <a:rPr>
                <a:latin typeface="Courier"/>
              </a:rPr>
              <a:t>validate_vista_deep()</a:t>
            </a:r>
          </a:p>
          <a:p>
            <a:pPr marL="0" lvl="0" indent="0">
              <a:buNone/>
            </a:pPr>
            <a:r>
              <a:t>Annotation and access:</a:t>
            </a:r>
          </a:p>
          <a:p>
            <a:pPr lvl="0"/>
            <a:r>
              <a:rPr>
                <a:latin typeface="Courier"/>
              </a:rPr>
              <a:t>set_rowdata()</a:t>
            </a:r>
          </a:p>
          <a:p>
            <a:pPr lvl="0"/>
            <a:r>
              <a:rPr>
                <a:latin typeface="Courier"/>
              </a:rPr>
              <a:t>set_de_source()</a:t>
            </a:r>
          </a:p>
          <a:p>
            <a:pPr lvl="0"/>
            <a:r>
              <a:rPr>
                <a:latin typeface="Courier"/>
              </a:rPr>
              <a:t>get_expression_matrix()</a:t>
            </a:r>
          </a:p>
          <a:p>
            <a:pPr lvl="0"/>
            <a:r>
              <a:rPr>
                <a:latin typeface="Courier"/>
              </a:rPr>
              <a:t>get_genes_by_regulation()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VISTA Function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QC and sample structure:</a:t>
            </a:r>
          </a:p>
          <a:p>
            <a:pPr lvl="0"/>
            <a:r>
              <a:rPr>
                <a:latin typeface="Courier"/>
              </a:rPr>
              <a:t>get_corr_heatmap()</a:t>
            </a:r>
          </a:p>
          <a:p>
            <a:pPr lvl="0"/>
            <a:r>
              <a:rPr>
                <a:latin typeface="Courier"/>
              </a:rPr>
              <a:t>get_pairwise_corr_plot()</a:t>
            </a:r>
          </a:p>
          <a:p>
            <a:pPr lvl="0"/>
            <a:r>
              <a:rPr>
                <a:latin typeface="Courier"/>
              </a:rPr>
              <a:t>get_pca_plot()</a:t>
            </a:r>
          </a:p>
          <a:p>
            <a:pPr lvl="0"/>
            <a:r>
              <a:rPr>
                <a:latin typeface="Courier"/>
              </a:rPr>
              <a:t>get_mds_plot()</a:t>
            </a:r>
          </a:p>
          <a:p>
            <a:pPr lvl="0"/>
            <a:r>
              <a:rPr>
                <a:latin typeface="Courier"/>
              </a:rPr>
              <a:t>get_umap_plot()</a:t>
            </a:r>
          </a:p>
          <a:p>
            <a:pPr marL="0" lvl="0" indent="0">
              <a:buNone/>
            </a:pPr>
            <a:r>
              <a:t>Differential expression plots:</a:t>
            </a:r>
          </a:p>
          <a:p>
            <a:pPr lvl="0"/>
            <a:r>
              <a:rPr>
                <a:latin typeface="Courier"/>
              </a:rPr>
              <a:t>get_deg_count_barplot()</a:t>
            </a:r>
          </a:p>
          <a:p>
            <a:pPr lvl="0"/>
            <a:r>
              <a:rPr>
                <a:latin typeface="Courier"/>
              </a:rPr>
              <a:t>get_deg_count_pieplot()</a:t>
            </a:r>
          </a:p>
          <a:p>
            <a:pPr lvl="0"/>
            <a:r>
              <a:rPr>
                <a:latin typeface="Courier"/>
              </a:rPr>
              <a:t>get_deg_count_donutplot()</a:t>
            </a:r>
          </a:p>
          <a:p>
            <a:pPr lvl="0"/>
            <a:r>
              <a:rPr>
                <a:latin typeface="Courier"/>
              </a:rPr>
              <a:t>get_deg_alluvial()</a:t>
            </a:r>
          </a:p>
          <a:p>
            <a:pPr lvl="0"/>
            <a:r>
              <a:rPr>
                <a:latin typeface="Courier"/>
              </a:rPr>
              <a:t>get_deg_venn_diagram()</a:t>
            </a:r>
          </a:p>
          <a:p>
            <a:pPr lvl="0"/>
            <a:r>
              <a:rPr>
                <a:latin typeface="Courier"/>
              </a:rPr>
              <a:t>get_volcano_plot()</a:t>
            </a:r>
          </a:p>
          <a:p>
            <a:pPr lvl="0"/>
            <a:r>
              <a:rPr>
                <a:latin typeface="Courier"/>
              </a:rPr>
              <a:t>get_ma_plot()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VISTA Function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Expression visualization:</a:t>
            </a:r>
          </a:p>
          <a:p>
            <a:pPr lvl="0"/>
            <a:r>
              <a:rPr>
                <a:latin typeface="Courier"/>
              </a:rPr>
              <a:t>get_expression_heatmap()</a:t>
            </a:r>
          </a:p>
          <a:p>
            <a:pPr lvl="0"/>
            <a:r>
              <a:rPr>
                <a:latin typeface="Courier"/>
              </a:rPr>
              <a:t>get_expression_barplot()</a:t>
            </a:r>
          </a:p>
          <a:p>
            <a:pPr lvl="0"/>
            <a:r>
              <a:rPr>
                <a:latin typeface="Courier"/>
              </a:rPr>
              <a:t>get_expression_boxplot()</a:t>
            </a:r>
          </a:p>
          <a:p>
            <a:pPr lvl="0"/>
            <a:r>
              <a:rPr>
                <a:latin typeface="Courier"/>
              </a:rPr>
              <a:t>get_expression_violinplot()</a:t>
            </a:r>
          </a:p>
          <a:p>
            <a:pPr lvl="0"/>
            <a:r>
              <a:rPr>
                <a:latin typeface="Courier"/>
              </a:rPr>
              <a:t>get_expression_density()</a:t>
            </a:r>
          </a:p>
          <a:p>
            <a:pPr lvl="0"/>
            <a:r>
              <a:rPr>
                <a:latin typeface="Courier"/>
              </a:rPr>
              <a:t>get_expression_scatter()</a:t>
            </a:r>
          </a:p>
          <a:p>
            <a:pPr lvl="0"/>
            <a:r>
              <a:rPr>
                <a:latin typeface="Courier"/>
              </a:rPr>
              <a:t>get_expression_lineplot()</a:t>
            </a:r>
          </a:p>
          <a:p>
            <a:pPr lvl="0"/>
            <a:r>
              <a:rPr>
                <a:latin typeface="Courier"/>
              </a:rPr>
              <a:t>get_expression_lollipop()</a:t>
            </a:r>
          </a:p>
          <a:p>
            <a:pPr lvl="0"/>
            <a:r>
              <a:rPr>
                <a:latin typeface="Courier"/>
              </a:rPr>
              <a:t>get_expression_joyplot()</a:t>
            </a:r>
          </a:p>
          <a:p>
            <a:pPr lvl="0"/>
            <a:r>
              <a:rPr>
                <a:latin typeface="Courier"/>
              </a:rPr>
              <a:t>get_expression_raincloud()</a:t>
            </a:r>
          </a:p>
          <a:p>
            <a:pPr lvl="0"/>
            <a:r>
              <a:rPr>
                <a:latin typeface="Courier"/>
              </a:rPr>
              <a:t>get_expression_chromosome_plot()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VISTA Function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Fold-change visualization:</a:t>
            </a:r>
          </a:p>
          <a:p>
            <a:pPr lvl="0"/>
            <a:r>
              <a:rPr>
                <a:latin typeface="Courier"/>
              </a:rPr>
              <a:t>get_foldchange_matrix()</a:t>
            </a:r>
          </a:p>
          <a:p>
            <a:pPr lvl="0"/>
            <a:r>
              <a:rPr>
                <a:latin typeface="Courier"/>
              </a:rPr>
              <a:t>get_foldchange_heatmap()</a:t>
            </a:r>
          </a:p>
          <a:p>
            <a:pPr lvl="0"/>
            <a:r>
              <a:rPr>
                <a:latin typeface="Courier"/>
              </a:rPr>
              <a:t>get_foldchange_barplot()</a:t>
            </a:r>
          </a:p>
          <a:p>
            <a:pPr lvl="0"/>
            <a:r>
              <a:rPr>
                <a:latin typeface="Courier"/>
              </a:rPr>
              <a:t>get_foldchange_boxplot()</a:t>
            </a:r>
          </a:p>
          <a:p>
            <a:pPr lvl="0"/>
            <a:r>
              <a:rPr>
                <a:latin typeface="Courier"/>
              </a:rPr>
              <a:t>get_foldchange_lineplot()</a:t>
            </a:r>
          </a:p>
          <a:p>
            <a:pPr lvl="0"/>
            <a:r>
              <a:rPr>
                <a:latin typeface="Courier"/>
              </a:rPr>
              <a:t>get_foldchange_lollipop()</a:t>
            </a:r>
          </a:p>
          <a:p>
            <a:pPr lvl="0"/>
            <a:r>
              <a:rPr>
                <a:latin typeface="Courier"/>
              </a:rPr>
              <a:t>get_foldchange_scatter()</a:t>
            </a:r>
          </a:p>
          <a:p>
            <a:pPr lvl="0"/>
            <a:r>
              <a:rPr>
                <a:latin typeface="Courier"/>
              </a:rPr>
              <a:t>get_foldchange_raincloud()</a:t>
            </a:r>
          </a:p>
          <a:p>
            <a:pPr lvl="0"/>
            <a:r>
              <a:rPr>
                <a:latin typeface="Courier"/>
              </a:rPr>
              <a:t>get_foldchange_chromosome_plot()</a:t>
            </a:r>
          </a:p>
          <a:p>
            <a:pPr marL="0" lvl="0" indent="0">
              <a:buNone/>
            </a:pPr>
            <a:r>
              <a:t>Functional analysis:</a:t>
            </a:r>
          </a:p>
          <a:p>
            <a:pPr lvl="0"/>
            <a:r>
              <a:rPr>
                <a:latin typeface="Courier"/>
              </a:rPr>
              <a:t>get_msigdb_enrichment()</a:t>
            </a:r>
          </a:p>
          <a:p>
            <a:pPr lvl="0"/>
            <a:r>
              <a:rPr>
                <a:latin typeface="Courier"/>
              </a:rPr>
              <a:t>get_go_enrichment()</a:t>
            </a:r>
          </a:p>
          <a:p>
            <a:pPr lvl="0"/>
            <a:r>
              <a:rPr>
                <a:latin typeface="Courier"/>
              </a:rPr>
              <a:t>get_kegg_enrichment()</a:t>
            </a:r>
          </a:p>
          <a:p>
            <a:pPr lvl="0"/>
            <a:r>
              <a:rPr>
                <a:latin typeface="Courier"/>
              </a:rPr>
              <a:t>get_gsea()</a:t>
            </a:r>
          </a:p>
          <a:p>
            <a:pPr lvl="0"/>
            <a:r>
              <a:rPr>
                <a:latin typeface="Courier"/>
              </a:rPr>
              <a:t>get_enrichment_plot()</a:t>
            </a:r>
          </a:p>
          <a:p>
            <a:pPr lvl="0"/>
            <a:r>
              <a:rPr>
                <a:latin typeface="Courier"/>
              </a:rPr>
              <a:t>get_enrichment_chord()</a:t>
            </a:r>
          </a:p>
          <a:p>
            <a:pPr lvl="0"/>
            <a:r>
              <a:rPr>
                <a:latin typeface="Courier"/>
              </a:rPr>
              <a:t>get_pathway_genes()</a:t>
            </a:r>
          </a:p>
          <a:p>
            <a:pPr lvl="0"/>
            <a:r>
              <a:rPr>
                <a:latin typeface="Courier"/>
              </a:rPr>
              <a:t>get_pathway_heatmap()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VISTA Function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Cell composition:</a:t>
            </a:r>
          </a:p>
          <a:p>
            <a:pPr lvl="0"/>
            <a:r>
              <a:rPr>
                <a:latin typeface="Courier"/>
              </a:rPr>
              <a:t>run_cell_deconvolution()</a:t>
            </a:r>
          </a:p>
          <a:p>
            <a:pPr lvl="0"/>
            <a:r>
              <a:rPr>
                <a:latin typeface="Courier"/>
              </a:rPr>
              <a:t>get_cell_fractions()</a:t>
            </a:r>
          </a:p>
          <a:p>
            <a:pPr lvl="0"/>
            <a:r>
              <a:rPr>
                <a:latin typeface="Courier"/>
              </a:rPr>
              <a:t>get_celltype_barplot()</a:t>
            </a:r>
          </a:p>
          <a:p>
            <a:pPr lvl="0"/>
            <a:r>
              <a:rPr>
                <a:latin typeface="Courier"/>
              </a:rPr>
              <a:t>get_celltype_heatmap()</a:t>
            </a:r>
          </a:p>
          <a:p>
            <a:pPr lvl="0"/>
            <a:r>
              <a:rPr>
                <a:latin typeface="Courier"/>
              </a:rPr>
              <a:t>get_celltype_group_dotplot()</a:t>
            </a:r>
          </a:p>
          <a:p>
            <a:pPr marL="0" lvl="0" indent="0">
              <a:buNone/>
            </a:pPr>
            <a:r>
              <a:t>Export and reporting:</a:t>
            </a:r>
          </a:p>
          <a:p>
            <a:pPr lvl="0"/>
            <a:r>
              <a:rPr>
                <a:latin typeface="Courier"/>
              </a:rPr>
              <a:t>save_vista_data()</a:t>
            </a:r>
          </a:p>
          <a:p>
            <a:pPr lvl="0"/>
            <a:r>
              <a:rPr>
                <a:latin typeface="Courier"/>
              </a:rPr>
              <a:t>save_vista_plot()</a:t>
            </a:r>
          </a:p>
          <a:p>
            <a:pPr lvl="0"/>
            <a:r>
              <a:rPr>
                <a:latin typeface="Courier"/>
              </a:rPr>
              <a:t>export_vista_assets()</a:t>
            </a:r>
          </a:p>
          <a:p>
            <a:pPr lvl="0"/>
            <a:r>
              <a:rPr>
                <a:latin typeface="Courier"/>
              </a:rPr>
              <a:t>run_vista_report()</a:t>
            </a:r>
          </a:p>
          <a:p>
            <a:pPr marL="0" lvl="0" indent="0">
              <a:buNone/>
            </a:pPr>
            <a:r>
              <a:t>Benchmarking:</a:t>
            </a:r>
          </a:p>
          <a:p>
            <a:pPr lvl="0"/>
            <a:r>
              <a:rPr>
                <a:latin typeface="Courier"/>
              </a:rPr>
              <a:t>benchmark_vista_equivalence()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Is Differential Expression?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62407"/>
            <a:ext cx="8229600" cy="3394472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dirty="0"/>
              <a:t>Differential expression asks whether a gene has different expression between groups.</a:t>
            </a:r>
          </a:p>
          <a:p>
            <a:pPr marL="0" lvl="0" indent="0">
              <a:buNone/>
            </a:pPr>
            <a:r>
              <a:rPr dirty="0"/>
              <a:t>Important columns:</a:t>
            </a:r>
          </a:p>
          <a:p>
            <a:pPr lvl="0"/>
            <a:r>
              <a:rPr dirty="0" err="1">
                <a:latin typeface="Courier"/>
              </a:rPr>
              <a:t>gene_id</a:t>
            </a:r>
            <a:r>
              <a:rPr dirty="0"/>
              <a:t>: gene identifier.</a:t>
            </a:r>
          </a:p>
          <a:p>
            <a:pPr lvl="0"/>
            <a:r>
              <a:rPr dirty="0">
                <a:latin typeface="Courier"/>
              </a:rPr>
              <a:t>log2FoldChange</a:t>
            </a:r>
            <a:r>
              <a:rPr dirty="0"/>
              <a:t>: size and direction of change.</a:t>
            </a:r>
          </a:p>
          <a:p>
            <a:pPr lvl="0"/>
            <a:r>
              <a:rPr dirty="0" err="1">
                <a:latin typeface="Courier"/>
              </a:rPr>
              <a:t>pvalue</a:t>
            </a:r>
            <a:r>
              <a:rPr dirty="0"/>
              <a:t>: evidence against no change.</a:t>
            </a:r>
          </a:p>
          <a:p>
            <a:pPr lvl="0"/>
            <a:r>
              <a:rPr dirty="0" err="1">
                <a:latin typeface="Courier"/>
              </a:rPr>
              <a:t>padj</a:t>
            </a:r>
            <a:r>
              <a:rPr dirty="0"/>
              <a:t>: adjusted p-value controlling false discovery rate.</a:t>
            </a:r>
          </a:p>
          <a:p>
            <a:pPr lvl="0"/>
            <a:r>
              <a:rPr dirty="0">
                <a:latin typeface="Courier"/>
              </a:rPr>
              <a:t>regulation</a:t>
            </a:r>
            <a:r>
              <a:rPr dirty="0"/>
              <a:t>: VISTA label such as Up, Down, or Other.</a:t>
            </a:r>
          </a:p>
          <a:p>
            <a:pPr marL="0" lvl="0" indent="0">
              <a:buNone/>
            </a:pPr>
            <a:r>
              <a:rPr dirty="0"/>
              <a:t>Beginners should interpret effect size and adjusted p-value together.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Functional Analysis Comes Later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Functional analysis should not be the first step.</a:t>
            </a:r>
          </a:p>
          <a:p>
            <a:pPr marL="0" lvl="0" indent="0">
              <a:buNone/>
            </a:pPr>
            <a:r>
              <a:t>Before enrichment, we need to know:</a:t>
            </a:r>
          </a:p>
          <a:p>
            <a:pPr lvl="0"/>
            <a:r>
              <a:t>Which comparison was tested.</a:t>
            </a:r>
          </a:p>
          <a:p>
            <a:pPr lvl="0"/>
            <a:r>
              <a:t>Which genes are up or down.</a:t>
            </a:r>
          </a:p>
          <a:p>
            <a:pPr lvl="0"/>
            <a:r>
              <a:t>Which cutoffs define significant genes.</a:t>
            </a:r>
          </a:p>
          <a:p>
            <a:pPr lvl="0"/>
            <a:r>
              <a:t>Which gene ID type is being used.</a:t>
            </a:r>
          </a:p>
          <a:p>
            <a:pPr lvl="0"/>
            <a:r>
              <a:t>Whether annotations are available.</a:t>
            </a:r>
          </a:p>
          <a:p>
            <a:pPr marL="0" lvl="0" indent="0">
              <a:buNone/>
            </a:pPr>
            <a:r>
              <a:t>VISTA helps pass the right gene sets from DE results into enrichment functions.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Functional Analysis in VISTA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VISTA supports:</a:t>
            </a:r>
          </a:p>
          <a:p>
            <a:pPr lvl="0"/>
            <a:r>
              <a:t>Over-representation analysis for MSigDB, GO, and KEGG.</a:t>
            </a:r>
          </a:p>
          <a:p>
            <a:pPr lvl="0"/>
            <a:r>
              <a:t>GSEA using ranked differential expression results.</a:t>
            </a:r>
          </a:p>
          <a:p>
            <a:pPr lvl="0"/>
            <a:r>
              <a:t>Dot plots and pathway-focused heatmaps.</a:t>
            </a:r>
          </a:p>
          <a:p>
            <a:pPr lvl="0"/>
            <a:r>
              <a:t>Extraction of pathway genes for follow-up plots.</a:t>
            </a:r>
          </a:p>
          <a:p>
            <a:pPr marL="0" lvl="0" indent="0">
              <a:buNone/>
            </a:pPr>
            <a:r>
              <a:t>This connects statistical results to biological interpretation.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Practical Teaching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Beginner-friendly flow:</a:t>
            </a:r>
          </a:p>
          <a:p>
            <a:pPr marL="342900" lvl="0" indent="-342900">
              <a:buAutoNum type="arabicPeriod"/>
            </a:pPr>
            <a:r>
              <a:t>Explain the object before the code.</a:t>
            </a:r>
          </a:p>
          <a:p>
            <a:pPr marL="342900" lvl="0" indent="-342900">
              <a:buAutoNum type="arabicPeriod"/>
            </a:pPr>
            <a:r>
              <a:t>Show dimensions and column names before analysis.</a:t>
            </a:r>
          </a:p>
          <a:p>
            <a:pPr marL="342900" lvl="0" indent="-342900">
              <a:buAutoNum type="arabicPeriod"/>
            </a:pPr>
            <a:r>
              <a:t>Run one comparison first.</a:t>
            </a:r>
          </a:p>
          <a:p>
            <a:pPr marL="342900" lvl="0" indent="-342900">
              <a:buAutoNum type="arabicPeriod"/>
            </a:pPr>
            <a:r>
              <a:t>Make a simple plot before customizing it.</a:t>
            </a:r>
          </a:p>
          <a:p>
            <a:pPr marL="342900" lvl="0" indent="-342900">
              <a:buAutoNum type="arabicPeriod"/>
            </a:pPr>
            <a:r>
              <a:t>Interpret one result table before enrichment.</a:t>
            </a:r>
          </a:p>
          <a:p>
            <a:pPr marL="342900" lvl="0" indent="-342900">
              <a:buAutoNum type="arabicPeriod"/>
            </a:pPr>
            <a:r>
              <a:t>Export outputs at the end.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Expected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By the end, participants should have:</a:t>
            </a:r>
          </a:p>
          <a:p>
            <a:pPr lvl="0"/>
            <a:r>
              <a:t>A VISTA object.</a:t>
            </a:r>
          </a:p>
          <a:p>
            <a:pPr lvl="0"/>
            <a:r>
              <a:t>A validated differential expression analysis.</a:t>
            </a:r>
          </a:p>
          <a:p>
            <a:pPr lvl="0"/>
            <a:r>
              <a:t>QC plots.</a:t>
            </a:r>
          </a:p>
          <a:p>
            <a:pPr lvl="0"/>
            <a:r>
              <a:t>Volcano and MA plots.</a:t>
            </a:r>
          </a:p>
          <a:p>
            <a:pPr lvl="0"/>
            <a:r>
              <a:t>Expression plots for selected genes.</a:t>
            </a:r>
          </a:p>
          <a:p>
            <a:pPr lvl="0"/>
            <a:r>
              <a:t>Enrichment results and enrichment plots.</a:t>
            </a:r>
          </a:p>
          <a:p>
            <a:pPr lvl="0"/>
            <a:r>
              <a:t>Exported result tables and figures.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Take-Home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VISTA is useful because it brings structure to a workflow that can otherwise become fragmented.</a:t>
            </a:r>
          </a:p>
          <a:p>
            <a:pPr marL="0" lvl="0" indent="0">
              <a:buNone/>
            </a:pPr>
            <a:r>
              <a:t>For beginners, it reduces the amount of manual wrangling.</a:t>
            </a:r>
          </a:p>
          <a:p>
            <a:pPr marL="0" lvl="0" indent="0">
              <a:buNone/>
            </a:pPr>
            <a:r>
              <a:t>For experienced users, it improves consistency, reproducibility, and reporting.</a:t>
            </a:r>
          </a:p>
          <a:p>
            <a:pPr marL="0" lvl="0" indent="0">
              <a:buNone/>
            </a:pPr>
            <a:r>
              <a:t>For AI-assisted work, it provides a stable analysis framework that can be checked and repeated.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1652</Words>
  <Application>Microsoft Macintosh PowerPoint</Application>
  <PresentationFormat>On-screen Show (16:9)</PresentationFormat>
  <Paragraphs>239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Courier</vt:lpstr>
      <vt:lpstr>Office Theme</vt:lpstr>
      <vt:lpstr>VISTA Workshop</vt:lpstr>
      <vt:lpstr>PowerPoint Presentation</vt:lpstr>
      <vt:lpstr>About me </vt:lpstr>
      <vt:lpstr>Workshop Goals</vt:lpstr>
      <vt:lpstr>Audience Assumptions</vt:lpstr>
      <vt:lpstr>The Problem VISTA Addresses</vt:lpstr>
      <vt:lpstr>Common Beginner Pain Points</vt:lpstr>
      <vt:lpstr>How VISTA Helps</vt:lpstr>
      <vt:lpstr>From Files to Interpretation</vt:lpstr>
      <vt:lpstr>Why Data Structure Matters</vt:lpstr>
      <vt:lpstr>Why SummarizedExperiment Matters</vt:lpstr>
      <vt:lpstr>VISTA and SummarizedExperiment</vt:lpstr>
      <vt:lpstr>Why VISTA When AI Is Advanced?</vt:lpstr>
      <vt:lpstr>AI Is Not a Substitute for Analysis Structure</vt:lpstr>
      <vt:lpstr>Example Dataset</vt:lpstr>
      <vt:lpstr>Practical Workflow</vt:lpstr>
      <vt:lpstr>VISTA Function Map</vt:lpstr>
      <vt:lpstr>VISTA Function Map</vt:lpstr>
      <vt:lpstr>VISTA Function Map</vt:lpstr>
      <vt:lpstr>VISTA Function Map</vt:lpstr>
      <vt:lpstr>VISTA Function Map</vt:lpstr>
      <vt:lpstr>What Is Differential Expression?</vt:lpstr>
      <vt:lpstr>Why Functional Analysis Comes Later</vt:lpstr>
      <vt:lpstr>Functional Analysis in VISTA</vt:lpstr>
      <vt:lpstr>Practical Teaching Strategy</vt:lpstr>
      <vt:lpstr>Expected Outputs</vt:lpstr>
      <vt:lpstr>Take-Home Message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VISTA Workshop</dc:title>
  <dc:creator>VISTA workshop</dc:creator>
  <cp:keywords/>
  <cp:lastModifiedBy>Chirag Parsania</cp:lastModifiedBy>
  <cp:revision>2</cp:revision>
  <dcterms:created xsi:type="dcterms:W3CDTF">2026-05-25T05:08:25Z</dcterms:created>
  <dcterms:modified xsi:type="dcterms:W3CDTF">2026-05-28T05:40:11Z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xecute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Beginner-friendly RNA-seq analysis from counts to functional interpretation</vt:lpwstr>
  </property>
  <property fmtid="{D5CDD505-2E9C-101B-9397-08002B2CF9AE}" pid="11" name="toc-title">
    <vt:lpwstr>Table of contents</vt:lpwstr>
  </property>
</Properties>
</file>